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60" r:id="rId6"/>
    <p:sldId id="262" r:id="rId7"/>
    <p:sldId id="263" r:id="rId8"/>
    <p:sldId id="264" r:id="rId9"/>
    <p:sldId id="273" r:id="rId10"/>
    <p:sldId id="276" r:id="rId11"/>
    <p:sldId id="266" r:id="rId12"/>
    <p:sldId id="270" r:id="rId13"/>
    <p:sldId id="259" r:id="rId14"/>
    <p:sldId id="271" r:id="rId15"/>
    <p:sldId id="272" r:id="rId16"/>
    <p:sldId id="275" r:id="rId17"/>
    <p:sldId id="279" r:id="rId18"/>
    <p:sldId id="269" r:id="rId19"/>
    <p:sldId id="265" r:id="rId20"/>
    <p:sldId id="284" r:id="rId21"/>
    <p:sldId id="261" r:id="rId22"/>
    <p:sldId id="283" r:id="rId23"/>
    <p:sldId id="267" r:id="rId24"/>
    <p:sldId id="274" r:id="rId25"/>
    <p:sldId id="277" r:id="rId26"/>
    <p:sldId id="278" r:id="rId27"/>
    <p:sldId id="280" r:id="rId28"/>
    <p:sldId id="282" r:id="rId29"/>
    <p:sldId id="28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2/11/2026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449AE-F2FC-3E97-39D7-D3E79D8C59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sz="6000" dirty="0"/>
              <a:t>REUNIÓN DE PADRES</a:t>
            </a:r>
            <a:br>
              <a:rPr lang="es-AR" sz="6000" dirty="0"/>
            </a:br>
            <a:r>
              <a:rPr lang="es-AR" sz="6000" dirty="0"/>
              <a:t>INGRESANTES 2026</a:t>
            </a:r>
            <a:endParaRPr lang="es-ES" sz="6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2AE71F-AB1C-1C54-17FF-BFEFE6D87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477435"/>
            <a:ext cx="10572000" cy="919704"/>
          </a:xfrm>
        </p:spPr>
        <p:txBody>
          <a:bodyPr>
            <a:normAutofit/>
          </a:bodyPr>
          <a:lstStyle/>
          <a:p>
            <a:pPr algn="ctr"/>
            <a:r>
              <a:rPr lang="es-AR" sz="4000" b="1" dirty="0"/>
              <a:t>CET N°5 – JAIME FELIPE MORANT</a:t>
            </a:r>
            <a:endParaRPr lang="es-ES" sz="4000" b="1" dirty="0"/>
          </a:p>
        </p:txBody>
      </p:sp>
    </p:spTree>
    <p:extLst>
      <p:ext uri="{BB962C8B-B14F-4D97-AF65-F5344CB8AC3E}">
        <p14:creationId xmlns:p14="http://schemas.microsoft.com/office/powerpoint/2010/main" val="714398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738A6-F6B3-FE50-98B3-29430366E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AUTORIDADES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BAE031-B704-E565-6964-E905FCED9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982" y="2482263"/>
            <a:ext cx="11059524" cy="4124725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Director: </a:t>
            </a:r>
            <a:r>
              <a:rPr lang="es-E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Prof. Ramón Suárez</a:t>
            </a:r>
            <a:endParaRPr lang="es-E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Vicedirectora Turno Mañana: </a:t>
            </a:r>
            <a:r>
              <a:rPr lang="es-E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Prof. </a:t>
            </a:r>
            <a:r>
              <a:rPr lang="es-E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Patricia Berti</a:t>
            </a:r>
            <a:endParaRPr lang="es-E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Vicedirectora Turno Tarde: </a:t>
            </a:r>
            <a:r>
              <a:rPr lang="es-E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Prof. Carmen Mella</a:t>
            </a:r>
            <a:endParaRPr lang="es-E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Jefa de Preceptores: </a:t>
            </a:r>
            <a:r>
              <a:rPr lang="es-E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Prof. Walter Fernández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Jefe General de Enseñanzas Prácticas:  </a:t>
            </a:r>
            <a:r>
              <a:rPr lang="es-E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Prof. Emiliano </a:t>
            </a:r>
            <a:r>
              <a:rPr lang="es-ES" sz="2800" b="1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Giuliotti</a:t>
            </a:r>
            <a:endParaRPr lang="es-E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829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8E4E7-6E16-4FE8-0167-C9262EAC0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VIAS DE COMUNICACIÓN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902910-0372-85FE-6F57-FD3FE5758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404756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s-ES" sz="4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0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s-ES" sz="4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mail: </a:t>
            </a:r>
            <a:r>
              <a:rPr lang="es-ES" sz="4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cet5cs@gmail.com</a:t>
            </a:r>
            <a:endParaRPr lang="es-ES" sz="4000" b="1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4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4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Facebook:</a:t>
            </a:r>
            <a:r>
              <a:rPr lang="es-ES" sz="4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@cet5cs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4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Instagram: </a:t>
            </a:r>
            <a:r>
              <a:rPr lang="es-ES" sz="4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@cet5cs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4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40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Sitio Web/Plataforma:</a:t>
            </a:r>
            <a:r>
              <a:rPr lang="es-ES" sz="4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cet5cs.online</a:t>
            </a:r>
            <a:endParaRPr lang="es-E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178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67074D-AA11-5E0A-BA1A-1D910E95E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DOCUMENTACION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100B07-E27C-8B13-D4E6-9AC42CF6E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589840"/>
            <a:ext cx="10387244" cy="363651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ES" sz="4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 alguna familia adeuda DOCUMENTACIÓN que se solicitó cuando realizaron la confirmación, acercarla  a la brevedad ya que forma parte del legajo del estudiante y se carga en el sistema.</a:t>
            </a:r>
            <a:endParaRPr lang="es-ES" sz="4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84654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C7BC59-560B-65E9-2788-5F1B4560B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FONDOS RECAUDADOS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373AC4-7E5E-C5CF-9FD4-7D8A3906E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518122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4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Los fondos recaudados </a:t>
            </a:r>
            <a:r>
              <a:rPr lang="es-ES" sz="4000" dirty="0">
                <a:latin typeface="Arial" panose="020B0604020202020204" pitchFamily="34" charset="0"/>
                <a:ea typeface="Calibri" panose="020F0502020204030204" pitchFamily="34" charset="0"/>
              </a:rPr>
              <a:t>serán destinados a</a:t>
            </a:r>
            <a:r>
              <a:rPr lang="es-ES" sz="4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la compra de insumos en general</a:t>
            </a:r>
            <a:r>
              <a:rPr lang="es-ES" sz="4000" dirty="0"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s-ES" sz="40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858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DC315-18EA-9608-AB7A-15303541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MATERIALES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8FE31D-A450-E296-0B83-127907AA6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419510"/>
            <a:ext cx="10554574" cy="418852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07000"/>
              </a:lnSpc>
            </a:pPr>
            <a:r>
              <a:rPr lang="es-ES" sz="35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35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Arabic Typesetting" panose="020F0502020204030204" pitchFamily="66" charset="-78"/>
              </a:rPr>
              <a:t>Cuaderno tapa dura de 50 hojas destinado a los comunicados diarios. Sin excepción.</a:t>
            </a:r>
          </a:p>
          <a:p>
            <a:pPr>
              <a:lnSpc>
                <a:spcPct val="107000"/>
              </a:lnSpc>
            </a:pPr>
            <a:r>
              <a:rPr lang="es-ES" sz="35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Arabic Typesetting" panose="020F0502020204030204" pitchFamily="66" charset="-78"/>
              </a:rPr>
              <a:t> </a:t>
            </a:r>
            <a:r>
              <a:rPr lang="es-ES" sz="3500" dirty="0">
                <a:latin typeface="Abadi" panose="020B0604020104020204" pitchFamily="34" charset="0"/>
                <a:ea typeface="Calibri" panose="020F0502020204030204" pitchFamily="34" charset="0"/>
                <a:cs typeface="Arabic Typesetting" panose="020F0502020204030204" pitchFamily="66" charset="-78"/>
              </a:rPr>
              <a:t>U</a:t>
            </a:r>
            <a:r>
              <a:rPr lang="es-ES" sz="35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Arabic Typesetting" panose="020F0502020204030204" pitchFamily="66" charset="-78"/>
              </a:rPr>
              <a:t>na </a:t>
            </a:r>
            <a:r>
              <a:rPr lang="es-ES" sz="3500" u="sng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Arabic Typesetting" panose="020F0502020204030204" pitchFamily="66" charset="-78"/>
              </a:rPr>
              <a:t>taza</a:t>
            </a:r>
            <a:r>
              <a:rPr lang="es-ES" sz="35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Arabic Typesetting" panose="020F0502020204030204" pitchFamily="66" charset="-78"/>
              </a:rPr>
              <a:t> para el refrigerio.</a:t>
            </a:r>
          </a:p>
          <a:p>
            <a:pPr>
              <a:lnSpc>
                <a:spcPct val="107000"/>
              </a:lnSpc>
            </a:pPr>
            <a:r>
              <a:rPr lang="es-ES" sz="35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Arabic Typesetting" panose="020F0502020204030204" pitchFamily="66" charset="-78"/>
              </a:rPr>
              <a:t> Botella de agua.</a:t>
            </a:r>
          </a:p>
          <a:p>
            <a:pPr>
              <a:lnSpc>
                <a:spcPct val="107000"/>
              </a:lnSpc>
            </a:pPr>
            <a:r>
              <a:rPr lang="es-ES" sz="3500" dirty="0">
                <a:effectLst/>
                <a:latin typeface="Abadi" panose="020B0604020104020204" pitchFamily="34" charset="0"/>
                <a:ea typeface="Calibri" panose="020F0502020204030204" pitchFamily="34" charset="0"/>
                <a:cs typeface="Arabic Typesetting" panose="020F0502020204030204" pitchFamily="66" charset="-78"/>
              </a:rPr>
              <a:t>Útiles y materiales específicos: a medida que tengan clases y conozcan a sus docentes se les solicitará a través del cuaderno de comunicados.</a:t>
            </a:r>
          </a:p>
          <a:p>
            <a:endParaRPr lang="es-E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049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CE95D6-3D42-9045-50FF-BD9B0F23B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CUADERNO DE COMUNICADOS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70700D-3E56-BAC0-40F7-0AD89600B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375647"/>
            <a:ext cx="10420095" cy="4141694"/>
          </a:xfrm>
        </p:spPr>
        <p:txBody>
          <a:bodyPr>
            <a:normAutofit fontScale="92500"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Asistir siempre con el </a:t>
            </a:r>
            <a:r>
              <a:rPr lang="es-E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CUADERNO DE COMUNICADOS</a:t>
            </a:r>
            <a:r>
              <a:rPr lang="es-ES" sz="32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clases, al Taller y a Educación Física. </a:t>
            </a: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Es muy importante que las familias revisen a diario el cuaderno de comunicados y se notifiquen firmando los mismos. También ahí podrán expresar dudas, consultas  a los docentes y pedidos (certificados escolares).</a:t>
            </a:r>
            <a:endParaRPr lang="es-E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15292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1FA3B-33FF-3DE6-4001-2832B17DA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HORARIOS 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F04D2C-B163-1580-AB47-7C38CFF7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321860"/>
            <a:ext cx="10554574" cy="4361573"/>
          </a:xfrm>
        </p:spPr>
        <p:txBody>
          <a:bodyPr/>
          <a:lstStyle/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Clases en el AULA: ingreso por el frente del colegio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TURNO MAÑANA de 8:00 a 12: 20 horas</a:t>
            </a:r>
            <a:endParaRPr lang="es-E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TURNO TARDE de 13:30 a 17:50 horas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E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Clases en TALLER: ingreso y retiro por el portón lateral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4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TURNO MAÑANA de</a:t>
            </a:r>
            <a:r>
              <a:rPr lang="es-E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8:00 a 11:12 horas</a:t>
            </a:r>
            <a:endParaRPr lang="es-E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4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TURNO TARDE </a:t>
            </a:r>
            <a:r>
              <a:rPr lang="es-ES" sz="2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14:00 a 17:12 horas</a:t>
            </a:r>
            <a:endParaRPr lang="es-ES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9260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1EECF-7BFA-A314-990B-935EE8E74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HORARIOS DE INGRESO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9FE4B2-2897-FE3B-C04A-5F52E9FFE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652593"/>
            <a:ext cx="10554574" cy="363651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ES" sz="4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Si el estudiante llega al establecimiento pasados</a:t>
            </a:r>
            <a:r>
              <a:rPr lang="es-ES" sz="40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4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15 minutos posteriores al ingreso escolar, debe hacerlo acompañado por su tutor. </a:t>
            </a:r>
          </a:p>
          <a:p>
            <a:pPr algn="just"/>
            <a:r>
              <a:rPr lang="es-ES" sz="4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colocan las llegadas tardes en el cuaderno de comunicados.</a:t>
            </a:r>
            <a:endParaRPr lang="es-E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0083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11E9A-DE40-E94D-098B-0A4A892CF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RECREOS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C5A3B4-6057-7C0E-68D8-C26396264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100" y="2447365"/>
            <a:ext cx="10554574" cy="4078941"/>
          </a:xfrm>
        </p:spPr>
        <p:txBody>
          <a:bodyPr>
            <a:normAutofit fontScale="92500" lnSpcReduction="10000"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TURNO MAÑANA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1er recreo de 9:20 a 9:30 horas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2do recreo de 10:50 a 11:00 horas</a:t>
            </a: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endParaRPr lang="es-ES" sz="28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TURNO TARDE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1er recreo de 14:50 a 15:00 horas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2do recreo de 16:20 a 16:30 horas</a:t>
            </a:r>
            <a:endParaRPr lang="es-ES" sz="700" dirty="0"/>
          </a:p>
        </p:txBody>
      </p:sp>
    </p:spTree>
    <p:extLst>
      <p:ext uri="{BB962C8B-B14F-4D97-AF65-F5344CB8AC3E}">
        <p14:creationId xmlns:p14="http://schemas.microsoft.com/office/powerpoint/2010/main" val="2840961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D9CB3-096A-BBB0-0088-1528BEF20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INASISTENCIA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70E468-1294-0EC9-EBEF-7E926676F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536052"/>
            <a:ext cx="10554574" cy="3636511"/>
          </a:xfrm>
        </p:spPr>
        <p:txBody>
          <a:bodyPr>
            <a:normAutofit/>
          </a:bodyPr>
          <a:lstStyle/>
          <a:p>
            <a:pPr algn="just"/>
            <a:r>
              <a:rPr lang="es-ES" sz="4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En caso de una afección de salud o algo que impida acudir al estudiante, la familia tiene la obligación de avisar en la institución la inasistencia.</a:t>
            </a:r>
          </a:p>
          <a:p>
            <a:r>
              <a:rPr lang="es-ES" sz="4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Régimen de asistencia a taller: 75%</a:t>
            </a:r>
            <a:endParaRPr lang="es-E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555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F4BE8B-FC86-34A2-2400-33600F8C6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HORAS LIBRES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2E2995-AAE0-3EB8-7C92-E473E0F87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ES" sz="4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Cuando haya horas libres, los estudiantes siempre quedan a cargo de su preceptor o preceptora. </a:t>
            </a:r>
            <a:endParaRPr lang="es-ES" sz="4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53422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98E538-423E-5BAD-FDE7-645BFE934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TRANSPORTE ESCOLAR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9A70A8-4A9E-20A1-634E-5AC3A5CC8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71998" cy="4188525"/>
          </a:xfrm>
        </p:spPr>
        <p:txBody>
          <a:bodyPr>
            <a:normAutofit/>
          </a:bodyPr>
          <a:lstStyle/>
          <a:p>
            <a:pPr algn="just"/>
            <a:r>
              <a:rPr lang="es-ES" sz="4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Respetar siempre los horarios del transporte. Los estudiantes no se pueden ausentar de la institución entre que terminan una actividad y el ascenso al colectivo.</a:t>
            </a:r>
            <a:endParaRPr lang="es-ES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181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13D854-F499-E091-6528-18351C6C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RETIROS ANTICIPADOS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26B64B-D2BD-66D9-78B2-718BFEEF5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24" y="2616734"/>
            <a:ext cx="10554574" cy="3636511"/>
          </a:xfrm>
        </p:spPr>
        <p:txBody>
          <a:bodyPr/>
          <a:lstStyle/>
          <a:p>
            <a:pPr marL="0" indent="0" algn="just">
              <a:buNone/>
            </a:pPr>
            <a:r>
              <a:rPr lang="es-ES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 caso de retiros anticipados del estudiante, sólo podrá hacerlo en compañía de madre, padre y/o tutor legal y/o adulto responsable (previa elaboración de un acta entre la familia y la persona designada con fotocopia del DNI de esta última).</a:t>
            </a:r>
            <a:endParaRPr lang="es-ES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62707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681DE3-02C7-AF1B-A2EE-1D2A313EE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SALIDAS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6A043D-2C96-97F5-AC29-C5B01754F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509157"/>
            <a:ext cx="10754974" cy="3636511"/>
          </a:xfrm>
        </p:spPr>
        <p:txBody>
          <a:bodyPr/>
          <a:lstStyle/>
          <a:p>
            <a:pPr marL="0" indent="0" algn="just">
              <a:buNone/>
            </a:pPr>
            <a:r>
              <a:rPr lang="es-ES" sz="4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Para salidas educativas, excursiones escolares, realización de proyectos y otros, se deberá registrar la firma del tutor en la comisaría (se avisará con tiempo para que puedan realizarla). </a:t>
            </a:r>
            <a:endParaRPr lang="es-ES" sz="4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0064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05B92-3BF6-5016-BB8D-6AC378324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CONSULTAS EN EL AULA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8F038F-4EA5-BD98-9BE6-56C4D868F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24" y="2536051"/>
            <a:ext cx="10554574" cy="3636511"/>
          </a:xfrm>
        </p:spPr>
        <p:txBody>
          <a:bodyPr/>
          <a:lstStyle/>
          <a:p>
            <a:pPr marL="0" indent="0" algn="just">
              <a:buNone/>
            </a:pPr>
            <a:r>
              <a:rPr lang="es-ES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 organización institucional y para no interrumpir las clases, cuando un padre, madre y/o tutor desea hablar con un docente y/o alcanzar algún material a su hijo/hija deberá anunciarse en la primera preceptoría para que personal autorizado lo acompañe.</a:t>
            </a:r>
            <a:endParaRPr lang="es-ES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053459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FBC479-10E3-A972-6CDA-9DF1C5C91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ESPACIOS Y SEGURIDAD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0A225E-C5D8-00AA-393C-0AB2BCDF7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438489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7000"/>
              </a:lnSpc>
            </a:pPr>
            <a:r>
              <a:rPr lang="es-E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aquellos estudiantes que viven muy lejos, pueden traerse una vianda y quedarse en la sala de estar ambientada para que puedan comer hasta el ingreso a taller o educación física.</a:t>
            </a:r>
            <a:endParaRPr lang="es-E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</a:pPr>
            <a:r>
              <a:rPr lang="es-E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Por una cuestión de seguridad, se les pide que los estudiantes  no ronden por los alrededores de la institución (canalito), es preferible que se queden a resguardo dentro de la institución en la sala de estar.</a:t>
            </a:r>
            <a:endParaRPr lang="es-E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Bicicletero: para mayor seguridad atar las bicicletas con alguna cadena y candado.</a:t>
            </a:r>
            <a:endParaRPr lang="es-E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199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53978-D2B7-2C8D-2A34-D6E7673CA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BIBLIOTECA Y KIOSCO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16424F-C30D-8CCE-35D9-347F42F47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24" y="2491228"/>
            <a:ext cx="10554574" cy="3636511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47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Podrán hacerse socios y retirar libros, consultar en biblioteca.</a:t>
            </a:r>
            <a:endParaRPr lang="es-ES" sz="47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47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El monto es de $2.000 mensuales o $10.000 anuales.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sz="47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s-ES" sz="4700" b="1" dirty="0">
                <a:latin typeface="Arial" panose="020B0604020202020204" pitchFamily="34" charset="0"/>
                <a:ea typeface="Calibri" panose="020F0502020204030204" pitchFamily="34" charset="0"/>
              </a:rPr>
              <a:t>C</a:t>
            </a:r>
            <a:r>
              <a:rPr lang="es-ES" sz="47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ontamos con un kiosco con fotocopiadora y refrigerios.</a:t>
            </a:r>
            <a:endParaRPr lang="es-ES" sz="47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51909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0E2873-AFF3-D487-68F0-EC78991E2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EDUCACION FÍSICA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0C7147-7365-019B-6BC1-B348073D9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580876"/>
            <a:ext cx="10554574" cy="3636511"/>
          </a:xfrm>
        </p:spPr>
        <p:txBody>
          <a:bodyPr/>
          <a:lstStyle/>
          <a:p>
            <a:pPr marL="0" indent="0" algn="just">
              <a:buNone/>
            </a:pPr>
            <a:r>
              <a:rPr lang="es-ES" sz="4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realiza en contra turno y una vez conformados los grupos se darán a conocer los horarios.</a:t>
            </a:r>
          </a:p>
        </p:txBody>
      </p:sp>
    </p:spTree>
    <p:extLst>
      <p:ext uri="{BB962C8B-B14F-4D97-AF65-F5344CB8AC3E}">
        <p14:creationId xmlns:p14="http://schemas.microsoft.com/office/powerpoint/2010/main" val="19347034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548032-0007-25FF-2CD3-564F9483B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3800" dirty="0"/>
              <a:t>Acuerdos Escolares de Convivencia (AEC)</a:t>
            </a:r>
            <a:endParaRPr lang="es-ES" sz="3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E3198A-85B3-1F9D-835C-4E02FF880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AR" sz="3200" b="1" dirty="0"/>
              <a:t> La institución tiene aprobados por disposición ministerial los acuerdos escolares. Los estudiantes y la familia deben conocerlos y respetarlos. </a:t>
            </a:r>
          </a:p>
          <a:p>
            <a:pPr algn="just"/>
            <a:r>
              <a:rPr lang="es-AR" sz="3200" b="1" dirty="0"/>
              <a:t> También las escuelas técnicas cuentan con una reglamentación para cada sector. Resolución 1480/09.</a:t>
            </a:r>
            <a:endParaRPr lang="es-ES" sz="3200" b="1" dirty="0"/>
          </a:p>
        </p:txBody>
      </p:sp>
    </p:spTree>
    <p:extLst>
      <p:ext uri="{BB962C8B-B14F-4D97-AF65-F5344CB8AC3E}">
        <p14:creationId xmlns:p14="http://schemas.microsoft.com/office/powerpoint/2010/main" val="3731488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99C201-F2B2-A7ED-FDD1-C9B47A279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VESTIMENTA (AEC)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1F52FE-F007-3B6A-E410-97427C7EA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341110"/>
            <a:ext cx="10682753" cy="400981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 acuerdo escolar con participación de las familias para las clases en el aula:</a:t>
            </a:r>
          </a:p>
          <a:p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Chaqueta o guardapolvo blanco, pantalones sin roturas</a:t>
            </a:r>
          </a:p>
          <a:p>
            <a:r>
              <a:rPr lang="es-ES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</a:t>
            </a: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alzado cerrado (zapatillas, botines, zapatos) no </a:t>
            </a:r>
            <a:r>
              <a:rPr lang="es-ES" sz="3200" dirty="0" err="1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Crocs</a:t>
            </a: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ni ojotas.</a:t>
            </a:r>
          </a:p>
          <a:p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gorras en el aula.</a:t>
            </a:r>
          </a:p>
          <a:p>
            <a:r>
              <a:rPr lang="es-ES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 la clase de Educación Física no se puede asistir con top o remeras muy escotadas, ni con shorts muy cortos.</a:t>
            </a:r>
            <a:endParaRPr lang="es-E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11726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F6413-A552-EF3F-A3DA-9C9853B2F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D6DCA-51A7-BB7E-0DDB-D793632D2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USO DEL CELULAR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C8BE81-54A1-DAFE-BB2B-13165D02A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321860"/>
            <a:ext cx="10554574" cy="4088952"/>
          </a:xfrm>
        </p:spPr>
        <p:txBody>
          <a:bodyPr anchor="t"/>
          <a:lstStyle/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AR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Los materiales que los docentes deban compartir será a través de </a:t>
            </a:r>
            <a:r>
              <a:rPr lang="es-AR" sz="2800" b="1" dirty="0" err="1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Whatsapp</a:t>
            </a:r>
            <a:r>
              <a:rPr lang="es-AR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al grupo de padres.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r>
              <a:rPr lang="es-E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uso del celular esta PROHIBIDO dentro del aula. Incluso en las horas libres y</a:t>
            </a:r>
            <a:r>
              <a:rPr lang="es-ES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que genera conflictos en la convivencia diaria dentro del aula.</a:t>
            </a:r>
          </a:p>
          <a:p>
            <a:pPr lvl="1">
              <a:lnSpc>
                <a:spcPct val="107000"/>
              </a:lnSpc>
              <a:spcAft>
                <a:spcPts val="800"/>
              </a:spcAft>
            </a:pPr>
            <a:endParaRPr lang="es-ES" sz="2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813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D011C-6F3E-7EA8-083C-40572B97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PRIMER DIA DE CLASES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EDAE3F-F522-6B83-842D-8537707A7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424" y="2339789"/>
            <a:ext cx="10710150" cy="4164468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</a:t>
            </a: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 primer día de clases por Calendario Escolar es el 2 de marzo.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Semana de integración: 2 al 6 de marzo.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Será de adaptación, los estudiantes serán guiados para conocer cada sector del colegio: aulas, secretaría, dirección, taller, laboratorios, biblioteca, etc.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70950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83CD3-A2AD-C49B-55A9-49E9BD353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PEDAGÓGICO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345E9F-F8D4-0BE1-858C-299B18FBF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625699"/>
            <a:ext cx="10554574" cy="363651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Los estudiantes realizarán una cursada de 2 cuatrimestres con dos cortes bimestrales en cada uno de ellos:</a:t>
            </a:r>
            <a:endParaRPr lang="es-E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Primer cuatrimestre</a:t>
            </a: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s-ES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02</a:t>
            </a: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/03/26 al </a:t>
            </a:r>
            <a:r>
              <a:rPr lang="es-ES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/07/26</a:t>
            </a:r>
            <a:endParaRPr lang="es-E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s-ES" sz="32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Segundo cuatrimestre</a:t>
            </a: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inicia el </a:t>
            </a:r>
            <a:r>
              <a:rPr lang="es-ES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27</a:t>
            </a: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/07/26 al 18/12/</a:t>
            </a:r>
            <a:r>
              <a:rPr lang="es-ES" sz="3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26 </a:t>
            </a:r>
            <a:endParaRPr lang="es-ES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2487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49503B-5855-AD64-01C7-AEC8B6DD7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PEDAGÓGICO</a:t>
            </a:r>
            <a:endParaRPr lang="es-ES" sz="5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C59D65-1F95-E987-2245-A8218A639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501242"/>
          </a:xfrm>
        </p:spPr>
        <p:txBody>
          <a:bodyPr>
            <a:normAutofit/>
          </a:bodyPr>
          <a:lstStyle/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s-E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Aquel estudiante que logre aprobar con 7 (siete o más) todas las materias, terminará el </a:t>
            </a:r>
            <a:r>
              <a:rPr lang="es-ES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30 de noviembre</a:t>
            </a:r>
            <a:r>
              <a:rPr lang="es-E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Mientras que aquel estudiante que debe REFORZAR algún contenido del programa deberá asistir al Período de Intensificación de Saberes (recuperación), del 1 al 15 de Diciembre. Si no lo logra pasa a la instancia de febrero del 2027. Todo se avisa a través del cuaderno de comunicados.</a:t>
            </a:r>
            <a:endParaRPr lang="es-E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es-ES" sz="2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Pueden tener hasta tres materias previas para pasar de año. Caso contrario repite de año.</a:t>
            </a:r>
            <a:endParaRPr lang="es-E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116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EEF42-3215-CD2B-B0A4-C189C0C18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5400" dirty="0"/>
              <a:t>PEDAGÓGICO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F8FADD-C756-6590-01E0-D8DCD2ACC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598804"/>
            <a:ext cx="10386844" cy="3636511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sz="4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Los estudiantes necesitan acompañamiento hasta que logren adaptarse al ritmo que propone la escuela secundaria. Es importante ayudarlos a organizarse con los tiempos de estudio, de recreación, de higiene y de descanso.</a:t>
            </a:r>
            <a:endParaRPr lang="es-ES" sz="4000" dirty="0"/>
          </a:p>
        </p:txBody>
      </p:sp>
    </p:spTree>
    <p:extLst>
      <p:ext uri="{BB962C8B-B14F-4D97-AF65-F5344CB8AC3E}">
        <p14:creationId xmlns:p14="http://schemas.microsoft.com/office/powerpoint/2010/main" val="4845500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8B3B9-5B8C-CEC5-A69D-1B0BA00B5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400" dirty="0"/>
              <a:t>CONSEJO ESCOLAR DE CONVIVENCIA</a:t>
            </a:r>
            <a:endParaRPr lang="es-ES" sz="4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0A0CC2-BA9F-D193-3ADB-3336C1D91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4438489"/>
          </a:xfrm>
        </p:spPr>
        <p:txBody>
          <a:bodyPr>
            <a:normAutofit/>
          </a:bodyPr>
          <a:lstStyle/>
          <a:p>
            <a:pPr algn="just"/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Ante situaciones de conflicto que interrumpen la armonía escolar y generan distintas emociones y /o sentimientos negativos, se trabaja desde la institución, citando al CONSEJO ESCOLAR DE CONVIVENCIA. Este grupo está formado por el equipo directivo, </a:t>
            </a:r>
            <a:r>
              <a:rPr lang="es-ES" sz="32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ETAP, </a:t>
            </a:r>
            <a:r>
              <a:rPr lang="es-ES" sz="32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 docente representante de su grupo, un representante del centro de estudiante y una madre y/o padre. </a:t>
            </a:r>
            <a:endParaRPr lang="es-E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1659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795F9-3C3A-729B-353D-5E1F06BA2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400" dirty="0"/>
              <a:t>CONSEJO ESCOLAR DE CONVIVENCIA</a:t>
            </a:r>
            <a:endParaRPr lang="es-ES" sz="4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4B1FB4-F438-987F-132F-1F2D6C8E9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ES" sz="3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El consejo sólo se reúne en caso que la situación lo amerite, para entre todos poder reflexionar y proponer acciones reparadoras que hagan recapacitar a los involucrados con respecto a sus acciones.</a:t>
            </a:r>
            <a:endParaRPr lang="es-ES" sz="3600" dirty="0"/>
          </a:p>
        </p:txBody>
      </p:sp>
    </p:spTree>
    <p:extLst>
      <p:ext uri="{BB962C8B-B14F-4D97-AF65-F5344CB8AC3E}">
        <p14:creationId xmlns:p14="http://schemas.microsoft.com/office/powerpoint/2010/main" val="3326063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985665-BDCB-D03F-D693-AE8F951FA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sz="4400" dirty="0"/>
              <a:t>CONSEJO ESCOLAR DE CONVIVENCIA</a:t>
            </a:r>
            <a:endParaRPr lang="es-ES" sz="44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696841-ABE3-9E24-0A00-A93AAEB9B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24" y="2509157"/>
            <a:ext cx="10554574" cy="3636511"/>
          </a:xfrm>
        </p:spPr>
        <p:txBody>
          <a:bodyPr/>
          <a:lstStyle/>
          <a:p>
            <a:pPr algn="just"/>
            <a:r>
              <a:rPr lang="es-ES" sz="36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Pedido: aquel padre y/o madre que desee postularse, podrán hacerlo y acercarnos su contacto telefónico, ya que las autoridades del consejo se renuevan cada dos años. </a:t>
            </a:r>
            <a:endParaRPr lang="es-ES" sz="3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26487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TM03457503[[fn=Citable]]</Template>
  <TotalTime>314</TotalTime>
  <Words>1288</Words>
  <Application>Microsoft Office PowerPoint</Application>
  <PresentationFormat>Panorámica</PresentationFormat>
  <Paragraphs>98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6" baseType="lpstr">
      <vt:lpstr>Abadi</vt:lpstr>
      <vt:lpstr>Arial</vt:lpstr>
      <vt:lpstr>Calibri</vt:lpstr>
      <vt:lpstr>Calibri Light</vt:lpstr>
      <vt:lpstr>Century Gothic</vt:lpstr>
      <vt:lpstr>Wingdings 2</vt:lpstr>
      <vt:lpstr>Citable</vt:lpstr>
      <vt:lpstr>REUNIÓN DE PADRES INGRESANTES 2026</vt:lpstr>
      <vt:lpstr>AUTORIDADES</vt:lpstr>
      <vt:lpstr>VIAS DE COMUNICACIÓN</vt:lpstr>
      <vt:lpstr>DOCUMENTACION</vt:lpstr>
      <vt:lpstr>FONDOS RECAUDADOS</vt:lpstr>
      <vt:lpstr>MATERIALES</vt:lpstr>
      <vt:lpstr>CUADERNO DE COMUNICADOS</vt:lpstr>
      <vt:lpstr>HORARIOS </vt:lpstr>
      <vt:lpstr>HORARIOS DE INGRESO</vt:lpstr>
      <vt:lpstr>RECREOS</vt:lpstr>
      <vt:lpstr>INASISTENCIA</vt:lpstr>
      <vt:lpstr>HORAS LIBRES</vt:lpstr>
      <vt:lpstr>TRANSPORTE ESCOLAR</vt:lpstr>
      <vt:lpstr>RETIROS ANTICIPADOS</vt:lpstr>
      <vt:lpstr>SALIDAS</vt:lpstr>
      <vt:lpstr>CONSULTAS EN EL AULA</vt:lpstr>
      <vt:lpstr>ESPACIOS Y SEGURIDAD</vt:lpstr>
      <vt:lpstr>BIBLIOTECA Y KIOSCO</vt:lpstr>
      <vt:lpstr>EDUCACION FÍSICA</vt:lpstr>
      <vt:lpstr>Acuerdos Escolares de Convivencia (AEC)</vt:lpstr>
      <vt:lpstr>VESTIMENTA (AEC)</vt:lpstr>
      <vt:lpstr>USO DEL CELULAR</vt:lpstr>
      <vt:lpstr>PRIMER DIA DE CLASES</vt:lpstr>
      <vt:lpstr>PEDAGÓGICO</vt:lpstr>
      <vt:lpstr>PEDAGÓGICO</vt:lpstr>
      <vt:lpstr>PEDAGÓGICO</vt:lpstr>
      <vt:lpstr>CONSEJO ESCOLAR DE CONVIVENCIA</vt:lpstr>
      <vt:lpstr>CONSEJO ESCOLAR DE CONVIVENCIA</vt:lpstr>
      <vt:lpstr>CONSEJO ESCOLAR DE CONVIVENCIA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REUNION DE PADRES INGRESANTES 2023</dc:title>
  <dc:creator>Dario Rivas</dc:creator>
  <cp:lastModifiedBy>install</cp:lastModifiedBy>
  <cp:revision>17</cp:revision>
  <dcterms:created xsi:type="dcterms:W3CDTF">2023-02-24T01:23:02Z</dcterms:created>
  <dcterms:modified xsi:type="dcterms:W3CDTF">2026-02-11T14:01:00Z</dcterms:modified>
</cp:coreProperties>
</file>